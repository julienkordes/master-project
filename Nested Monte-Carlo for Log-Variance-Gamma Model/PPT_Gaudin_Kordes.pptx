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05B61E-FFFD-4DF4-A4DD-E99FF4BBE20E}">
  <a:tblStyle styleId="{AB05B61E-FFFD-4DF4-A4DD-E99FF4BBE2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unito-regular.fntdata"/><Relationship Id="rId14" Type="http://schemas.openxmlformats.org/officeDocument/2006/relationships/slide" Target="slides/slide8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6661d4504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6661d450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6661d450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6661d450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6661d450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6661d450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6661d4504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46661d450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6661d450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6661d450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6661d450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6661d450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6661d4504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6661d4504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179200" y="1324025"/>
            <a:ext cx="6723600" cy="195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Nested Monte-Carlo for Log-Variance-Gamma Model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Samuel Gaudin &amp; Julien Kordes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ctrTitle"/>
          </p:nvPr>
        </p:nvSpPr>
        <p:spPr>
          <a:xfrm>
            <a:off x="2458701" y="327152"/>
            <a:ext cx="4161300" cy="106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Summary</a:t>
            </a:r>
            <a:endParaRPr/>
          </a:p>
        </p:txBody>
      </p:sp>
      <p:sp>
        <p:nvSpPr>
          <p:cNvPr id="135" name="Google Shape;135;p14"/>
          <p:cNvSpPr txBox="1"/>
          <p:nvPr>
            <p:ph idx="1" type="subTitle"/>
          </p:nvPr>
        </p:nvSpPr>
        <p:spPr>
          <a:xfrm>
            <a:off x="389875" y="1499490"/>
            <a:ext cx="7998900" cy="27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5"/>
              <a:t>1- Nested Monte-Carlo simulation</a:t>
            </a:r>
            <a:endParaRPr sz="280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5"/>
              <a:t>2- Neural Network approximation</a:t>
            </a:r>
            <a:endParaRPr sz="280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5"/>
              <a:t>3- Monotonicity and convexity study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877" y="367238"/>
            <a:ext cx="6731873" cy="431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>
            <p:ph type="title"/>
          </p:nvPr>
        </p:nvSpPr>
        <p:spPr>
          <a:xfrm>
            <a:off x="7127975" y="283450"/>
            <a:ext cx="21027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Monte-Carlo simulation </a:t>
            </a:r>
            <a:endParaRPr sz="2500"/>
          </a:p>
        </p:txBody>
      </p:sp>
      <p:sp>
        <p:nvSpPr>
          <p:cNvPr id="142" name="Google Shape;142;p15"/>
          <p:cNvSpPr txBox="1"/>
          <p:nvPr/>
        </p:nvSpPr>
        <p:spPr>
          <a:xfrm>
            <a:off x="4572000" y="875350"/>
            <a:ext cx="21027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Variance-Gamma Process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075" y="152400"/>
            <a:ext cx="876185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5475700" y="3051450"/>
            <a:ext cx="30102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Parameters initialisation 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5840500" y="3392850"/>
            <a:ext cx="27552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Training  with Ntraj = 64 * 512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5840500" y="3704075"/>
            <a:ext cx="27552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Testing with Ntraj = 256 * 512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819150" y="2953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Neural Network approximation</a:t>
            </a:r>
            <a:endParaRPr/>
          </a:p>
        </p:txBody>
      </p:sp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575" y="971013"/>
            <a:ext cx="6490426" cy="320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819150" y="2529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Neural Network approximation</a:t>
            </a:r>
            <a:endParaRPr/>
          </a:p>
        </p:txBody>
      </p:sp>
      <p:pic>
        <p:nvPicPr>
          <p:cNvPr id="162" name="Google Shape;16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052450"/>
            <a:ext cx="5604926" cy="29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6519325" y="1052450"/>
            <a:ext cx="1598100" cy="14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Parameters: </a:t>
            </a:r>
            <a:b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 hidden sizes</a:t>
            </a:r>
            <a:b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 tested with:</a:t>
            </a:r>
            <a:b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(200, 200, 200)</a:t>
            </a:r>
            <a:b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(400, 200, 100)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819150" y="246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Approximation results</a:t>
            </a:r>
            <a:endParaRPr/>
          </a:p>
        </p:txBody>
      </p:sp>
      <p:pic>
        <p:nvPicPr>
          <p:cNvPr id="169" name="Google Shape;16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25" y="329610"/>
            <a:ext cx="3329524" cy="195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25" y="2727877"/>
            <a:ext cx="3329526" cy="196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7234775" y="94200"/>
            <a:ext cx="27939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Hidden sizes = (200, 200, 200)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7215725" y="2493900"/>
            <a:ext cx="27939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Hidden sizes = (400, 200, 100)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325" y="2267450"/>
            <a:ext cx="4326651" cy="229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641525" y="4427825"/>
            <a:ext cx="2164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Scatter plot of target vs predicted prices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2806325" y="4427825"/>
            <a:ext cx="2164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Empirical cumulative distribution function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" name="Google Shape;176;p19"/>
          <p:cNvGraphicFramePr/>
          <p:nvPr/>
        </p:nvGraphicFramePr>
        <p:xfrm>
          <a:off x="382950" y="90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{AB05B61E-FFFD-4DF4-A4DD-E99FF4BBE20E}</a:tableStyleId>
              </a:tblPr>
              <a:tblGrid>
                <a:gridCol w="1002100"/>
                <a:gridCol w="1002100"/>
                <a:gridCol w="1002100"/>
                <a:gridCol w="1002100"/>
                <a:gridCol w="1002100"/>
              </a:tblGrid>
              <a:tr h="45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Hidden sizes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/>
                        <a:t>Linear correlation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R</a:t>
                      </a:r>
                      <a:r>
                        <a:rPr lang="fr" sz="1100"/>
                        <a:t>^2 coef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Accuracy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Relaxed Accuracy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0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/>
                        <a:t>(200, 200, 200)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/>
                        <a:t>(400, 200, 100)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819150" y="462625"/>
            <a:ext cx="3963000" cy="11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Monotonicity and convexity study</a:t>
            </a:r>
            <a:endParaRPr/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075" y="2615000"/>
            <a:ext cx="3480849" cy="22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8075" y="315725"/>
            <a:ext cx="3480850" cy="2195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825" y="1835626"/>
            <a:ext cx="3815550" cy="274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